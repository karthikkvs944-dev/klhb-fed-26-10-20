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</p:sldIdLst>
  <p:sldSz cx="12192000" cy="6858000"/>
  <p:notesSz cx="6858000" cy="9144000"/>
  <p:embeddedFontLst>
    <p:embeddedFont>
      <p:font typeface="Plus Jakarta Sans"/>
      <p:bold r:id="rId9"/>
    </p:embeddedFont>
    <p:embeddedFont>
      <p:font typeface="Segoe UI Variable Display" pitchFamily="2" charset="0"/>
      <p:regular r:id="rId10"/>
      <p:bold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4" y="2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076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9477375" y="533400"/>
            <a:ext cx="2105025" cy="409575"/>
          </a:xfrm>
          <a:prstGeom prst="roundRect">
            <a:avLst>
              <a:gd name="adj" fmla="val 1860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43900" y="2794545"/>
            <a:ext cx="3238500" cy="2047875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991076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025" y="3032670"/>
            <a:ext cx="2762250" cy="3048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9600" y="3070770"/>
            <a:ext cx="7353300" cy="188595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09600" y="3070770"/>
          <a:ext cx="7343774" cy="1885950"/>
        </p:xfrm>
        <a:graphic>
          <a:graphicData uri="http://schemas.openxmlformats.org/drawingml/2006/table">
            <a:tbl>
              <a:tblPr/>
              <a:tblGrid>
                <a:gridCol w="1535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0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1487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S.no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Roll Number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8BDF8"/>
                          </a:solidFill>
                          <a:latin typeface="Plus Jakarta Sans"/>
                        </a:rPr>
                        <a:t>Student Name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341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Space Grotesk"/>
                        </a:rPr>
                        <a:t>2620080071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Harish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48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Space Grotesk"/>
                        </a:rPr>
                        <a:t>2620030506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Sabeer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489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E2E8F0"/>
                          </a:solidFill>
                          <a:latin typeface="Space Grotesk"/>
                        </a:rPr>
                        <a:t>2620040159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2E8F0"/>
                          </a:solidFill>
                          <a:latin typeface="Plus Jakarta Sans"/>
                        </a:rPr>
                        <a:t>KVS Karthik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9600" y="533400"/>
            <a:ext cx="5676900" cy="1112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1st Year PSTP (JAVA) — S10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67875" y="628650"/>
            <a:ext cx="18192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Academic Year 2026–2027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53001"/>
            <a:ext cx="3559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Course: Object Oriented Programming in 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847725"/>
            <a:ext cx="7325915" cy="5028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sz="3600" b="1" i="0" u="none">
                <a:solidFill>
                  <a:srgbClr val="FFFFFF"/>
                </a:solidFill>
                <a:latin typeface="Space Grotesk"/>
              </a:rPr>
              <a:t>Car Rental Fleet 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426815"/>
            <a:ext cx="697706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94A3B8"/>
                </a:solidFill>
                <a:latin typeface="Plus Jakarta Sans"/>
              </a:rPr>
              <a:t>Travel &amp; Logistics Solutions | SDG 8: Decent Work &amp; Economic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2680245"/>
            <a:ext cx="9651206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8FAFC"/>
                </a:solidFill>
                <a:latin typeface="Plus Jakarta Sans"/>
              </a:rPr>
              <a:t>Project Team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82025" y="3451770"/>
            <a:ext cx="36099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Core System Focus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2025" y="3747045"/>
            <a:ext cx="28575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Plus Jakarta Sans"/>
              </a:rPr>
              <a:t>Object-oriented Java console manager handling fleet availability, polymorphic charging, maintenance locks, and state file persistence.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934075" y="1447800"/>
            <a:ext cx="5648325" cy="4333875"/>
          </a:xfrm>
          <a:prstGeom prst="roundRect">
            <a:avLst>
              <a:gd name="adj" fmla="val 351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933575"/>
            <a:ext cx="5095875" cy="1019175"/>
          </a:xfrm>
          <a:prstGeom prst="roundRect">
            <a:avLst>
              <a:gd name="adj" fmla="val 112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3105150"/>
            <a:ext cx="5095875" cy="1019175"/>
          </a:xfrm>
          <a:prstGeom prst="roundRect">
            <a:avLst>
              <a:gd name="adj" fmla="val 112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9600" y="4276725"/>
            <a:ext cx="5095875" cy="1019175"/>
          </a:xfrm>
          <a:prstGeom prst="roundRect">
            <a:avLst>
              <a:gd name="adj" fmla="val 1121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0300" y="4001392"/>
            <a:ext cx="5095875" cy="857250"/>
          </a:xfrm>
          <a:prstGeom prst="roundRect">
            <a:avLst>
              <a:gd name="adj" fmla="val 8888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2943225"/>
            <a:ext cx="509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1933575"/>
            <a:ext cx="509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09600" y="1933575"/>
            <a:ext cx="38100" cy="10191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695950" y="1933575"/>
            <a:ext cx="9525" cy="10191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09600" y="4114800"/>
            <a:ext cx="509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09600" y="3105150"/>
            <a:ext cx="509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09600" y="3105150"/>
            <a:ext cx="38100" cy="1019175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95950" y="3105150"/>
            <a:ext cx="9525" cy="10191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09600" y="5286375"/>
            <a:ext cx="509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9600" y="4276725"/>
            <a:ext cx="5095875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09600" y="4276725"/>
            <a:ext cx="38100" cy="10191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95950" y="4276725"/>
            <a:ext cx="9525" cy="101917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300" y="2370832"/>
            <a:ext cx="457200" cy="45720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2494657"/>
            <a:ext cx="209550" cy="2095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300" y="2171700"/>
            <a:ext cx="152400" cy="1714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3343275"/>
            <a:ext cx="171450" cy="1714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4514850"/>
            <a:ext cx="171450" cy="17145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09600" y="514350"/>
            <a:ext cx="110680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8BDF8"/>
                </a:solidFill>
                <a:latin typeface="Segoe UI Variable Display" pitchFamily="2" charset="0"/>
                <a:cs typeface="Segoe UI Semibold" panose="020B0702040204020203" pitchFamily="34" charset="0"/>
              </a:rPr>
              <a:t>01. Operational Challenges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Problem Statement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6153150"/>
            <a:ext cx="1964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Car Rental Fleet Manager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5650" y="6153150"/>
            <a:ext cx="952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Slide 2 of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0300" y="2980432"/>
            <a:ext cx="5981700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Business &amp; SDG Impact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0300" y="3361432"/>
            <a:ext cx="51911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Without automated fleet tracking, rental agencies face reduced utilization, inaccurate billing, and safety non-compliance.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81750" y="4134742"/>
            <a:ext cx="4848225" cy="590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Goal: SDG 8 Target </a:t>
            </a:r>
            <a:r>
              <a:rPr sz="1050" b="1" i="0" u="none">
                <a:solidFill>
                  <a:srgbClr val="94A3B8"/>
                </a:solidFill>
                <a:latin typeface="Plus Jakarta Sans"/>
              </a:rPr>
              <a:t>Promote sustained economic growth through tech-driven resource efficiency.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6300" y="2133600"/>
            <a:ext cx="6025753" cy="219075"/>
          </a:xfrm>
          <a:prstGeom prst="rect">
            <a:avLst/>
          </a:prstGeom>
          <a:noFill/>
        </p:spPr>
        <p:txBody>
          <a:bodyPr wrap="none" lIns="2286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Double-Booking Conflicts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6300" y="2390775"/>
            <a:ext cx="46863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Agencies lose track of reserved date windows, assigning active vehicles to multiple clients.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6300" y="3305175"/>
            <a:ext cx="6025753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Untracked Fuel &amp; Mileage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6300" y="3562350"/>
            <a:ext cx="46863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Check-out and check-in readings are unrecorded, leading to revenue loss on extra distance and fuel.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6300" y="4476750"/>
            <a:ext cx="6025753" cy="219075"/>
          </a:xfrm>
          <a:prstGeom prst="rect">
            <a:avLst/>
          </a:prstGeom>
          <a:noFill/>
        </p:spPr>
        <p:txBody>
          <a:bodyPr wrap="none" lIns="2476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Service Oversight Hazards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6300" y="4733925"/>
            <a:ext cx="46863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CBD5E1"/>
                </a:solidFill>
                <a:latin typeface="Plus Jakarta Sans"/>
              </a:rPr>
              <a:t>Vehicles exceeding maintenance thresholds remain on the road, increasing breakdown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47800"/>
            <a:ext cx="3505200" cy="4333875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1447800"/>
            <a:ext cx="3505200" cy="4333875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1447800"/>
            <a:ext cx="3505200" cy="4333875"/>
          </a:xfrm>
          <a:prstGeom prst="roundRect">
            <a:avLst>
              <a:gd name="adj" fmla="val 4347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5057775"/>
            <a:ext cx="3028950" cy="409575"/>
          </a:xfrm>
          <a:prstGeom prst="roundRect">
            <a:avLst>
              <a:gd name="adj" fmla="val 1860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81525" y="5057775"/>
            <a:ext cx="3028950" cy="409575"/>
          </a:xfrm>
          <a:prstGeom prst="roundRect">
            <a:avLst>
              <a:gd name="adj" fmla="val 1860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315325" y="5057775"/>
            <a:ext cx="3028950" cy="409575"/>
          </a:xfrm>
          <a:prstGeom prst="roundRect">
            <a:avLst>
              <a:gd name="adj" fmla="val 18604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62125"/>
            <a:ext cx="457200" cy="4572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1525" y="1762125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5" y="1762125"/>
            <a:ext cx="457200" cy="4572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" y="1885950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9162" y="1885950"/>
            <a:ext cx="161925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0575" y="1885950"/>
            <a:ext cx="266700" cy="2095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09600" y="533400"/>
            <a:ext cx="110680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8BDF8"/>
                </a:solidFill>
                <a:latin typeface="Segoe UI Variable Display" pitchFamily="2" charset="0"/>
              </a:rPr>
              <a:t>02. Architecture &amp;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Core Solution &amp; Domain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153150"/>
            <a:ext cx="1964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Car Rental Fleet 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06125" y="6153150"/>
            <a:ext cx="9620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Slide 3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163" y="1885950"/>
            <a:ext cx="3124200" cy="215444"/>
          </a:xfrm>
          <a:prstGeom prst="rect">
            <a:avLst/>
          </a:prstGeom>
          <a:noFill/>
        </p:spPr>
        <p:txBody>
          <a:bodyPr wrap="square" lIns="45720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8BDF8"/>
                </a:solidFill>
                <a:latin typeface="Plus Jakarta Sans"/>
              </a:rPr>
              <a:t>1. Abstract Base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2456" y="5153025"/>
            <a:ext cx="35194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Economy | SUV | Luxury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24400" y="1885950"/>
            <a:ext cx="3124200" cy="215444"/>
          </a:xfrm>
          <a:prstGeom prst="rect">
            <a:avLst/>
          </a:prstGeom>
          <a:noFill/>
        </p:spPr>
        <p:txBody>
          <a:bodyPr wrap="square" lIns="45720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8BDF8"/>
                </a:solidFill>
                <a:latin typeface="Plus Jakarta Sans"/>
              </a:rPr>
              <a:t>2. Immutable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36256" y="5153025"/>
            <a:ext cx="35194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Rental &amp; ServiceRecord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9859" y="1885950"/>
            <a:ext cx="3124200" cy="215444"/>
          </a:xfrm>
          <a:prstGeom prst="rect">
            <a:avLst/>
          </a:prstGeom>
          <a:noFill/>
        </p:spPr>
        <p:txBody>
          <a:bodyPr wrap="square" lIns="457200" tIns="0" rIns="0" bIns="0" anchor="t">
            <a:spAutoFit/>
          </a:bodyPr>
          <a:lstStyle/>
          <a:p>
            <a:pPr algn="l"/>
            <a:r>
              <a:rPr sz="1400" b="1" i="0" u="none" dirty="0">
                <a:solidFill>
                  <a:srgbClr val="38BDF8"/>
                </a:solidFill>
                <a:latin typeface="Plus Jakarta Sans"/>
              </a:rPr>
              <a:t>3. Central Logic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70056" y="5153025"/>
            <a:ext cx="3519487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38BDF8"/>
                </a:solidFill>
                <a:latin typeface="Plus Jakarta Sans"/>
              </a:rPr>
              <a:t>Orchestrates System 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7725" y="2686050"/>
            <a:ext cx="397549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Vehicle 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7725" y="3067050"/>
            <a:ext cx="312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Encapsulates ID, rates, and odometer readings across fleet vehicles.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525" y="2686050"/>
            <a:ext cx="3975496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Rentals &amp;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525" y="3067050"/>
            <a:ext cx="312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Stores customer dates, fuel levels, total fees, and maintenance history.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5325" y="2686050"/>
            <a:ext cx="38766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FFFFF"/>
                </a:solidFill>
                <a:latin typeface="Plus Jakarta Sans"/>
              </a:rPr>
              <a:t>FleetManager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5325" y="3067050"/>
            <a:ext cx="3124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Plus Jakarta Sans"/>
              </a:rPr>
              <a:t>Coordinates availability, booking checks, billing calculation, and file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2035968"/>
            <a:ext cx="5877817" cy="1138237"/>
          </a:xfrm>
          <a:prstGeom prst="roundRect">
            <a:avLst>
              <a:gd name="adj" fmla="val 1004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3326606"/>
            <a:ext cx="5877817" cy="942975"/>
          </a:xfrm>
          <a:prstGeom prst="roundRect">
            <a:avLst>
              <a:gd name="adj" fmla="val 12121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09600" y="4421981"/>
            <a:ext cx="5877817" cy="771525"/>
          </a:xfrm>
          <a:prstGeom prst="roundRect">
            <a:avLst>
              <a:gd name="adj" fmla="val 1481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9625" y="2540793"/>
            <a:ext cx="5477767" cy="433387"/>
          </a:xfrm>
          <a:prstGeom prst="roundRect">
            <a:avLst>
              <a:gd name="adj" fmla="val 17582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9625" y="3745706"/>
            <a:ext cx="2294036" cy="209550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846611" y="3736181"/>
            <a:ext cx="1653926" cy="209550"/>
          </a:xfrm>
          <a:prstGeom prst="roundRect">
            <a:avLst>
              <a:gd name="adj" fmla="val 1818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117" y="1409700"/>
            <a:ext cx="4828282" cy="4410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778" y="1419225"/>
            <a:ext cx="4830096" cy="4410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625" y="2264568"/>
            <a:ext cx="1238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536156"/>
            <a:ext cx="152400" cy="1524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4631531"/>
            <a:ext cx="133350" cy="152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09600" y="533400"/>
            <a:ext cx="110680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8BDF8"/>
                </a:solidFill>
                <a:latin typeface="Segoe UI Variable Display" pitchFamily="2" charset="0"/>
              </a:rPr>
              <a:t>03. Technical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387" y="1030429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FFFFF"/>
                </a:solidFill>
                <a:latin typeface="Plus Jakarta Sans"/>
              </a:rPr>
              <a:t>OOP Principles &amp; System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153150"/>
            <a:ext cx="1964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Car Rental Fleet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6125" y="6153150"/>
            <a:ext cx="9620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Slide 4 of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25" y="2235993"/>
            <a:ext cx="7189570" cy="209550"/>
          </a:xfrm>
          <a:prstGeom prst="rect">
            <a:avLst/>
          </a:prstGeom>
          <a:noFill/>
        </p:spPr>
        <p:txBody>
          <a:bodyPr wrap="none" lIns="200025" tIns="0" rIns="0" bIns="0" anchor="t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Polymorphic Charging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2025" y="2655093"/>
            <a:ext cx="5268217" cy="2047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8BDF8"/>
                </a:solidFill>
                <a:latin typeface="Space Grotesk"/>
              </a:rPr>
              <a:t>total = (days * dailyRate) + (km * perKmRate) + fuelDiff + lateFee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25" y="3507581"/>
            <a:ext cx="7189570" cy="20002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Custom Exceptions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040981"/>
            <a:ext cx="557301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Throws and to enforce business rules.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4602956"/>
            <a:ext cx="7189570" cy="200025"/>
          </a:xfrm>
          <a:prstGeom prst="rect">
            <a:avLst/>
          </a:prstGeom>
          <a:noFill/>
        </p:spPr>
        <p:txBody>
          <a:bodyPr wrap="none" lIns="19050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38BDF8"/>
                </a:solidFill>
                <a:latin typeface="Plus Jakarta Sans"/>
              </a:rPr>
              <a:t>File Persistence &amp; Restoration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625" y="4841081"/>
            <a:ext cx="684720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CBD5E1"/>
                </a:solidFill>
                <a:latin typeface="Plus Jakarta Sans"/>
              </a:rPr>
              <a:t>Saves fleet state, rentals, and service records to files; rebuilds availability grid on startup.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8700" y="3774556"/>
            <a:ext cx="2274986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 dirty="0">
                <a:solidFill>
                  <a:srgbClr val="38BDF8"/>
                </a:solidFill>
                <a:latin typeface="monospace"/>
              </a:rPr>
              <a:t>Vehicle</a:t>
            </a:r>
            <a:r>
              <a:rPr lang="en-US" sz="1050" b="0" i="0" u="none" dirty="0">
                <a:solidFill>
                  <a:srgbClr val="38BDF8"/>
                </a:solidFill>
                <a:latin typeface="monospace"/>
              </a:rPr>
              <a:t> </a:t>
            </a:r>
            <a:r>
              <a:rPr sz="1050" b="0" i="0" u="none" dirty="0">
                <a:solidFill>
                  <a:srgbClr val="38BDF8"/>
                </a:solidFill>
                <a:latin typeface="monospace"/>
              </a:rPr>
              <a:t>Unavailable</a:t>
            </a:r>
            <a:r>
              <a:rPr lang="en-US" sz="1050" b="0" i="0" u="none" dirty="0">
                <a:solidFill>
                  <a:srgbClr val="38BDF8"/>
                </a:solidFill>
                <a:latin typeface="monospace"/>
              </a:rPr>
              <a:t> </a:t>
            </a:r>
            <a:r>
              <a:rPr sz="1050" b="0" i="0" u="none" dirty="0">
                <a:solidFill>
                  <a:srgbClr val="38BDF8"/>
                </a:solidFill>
                <a:latin typeface="monospace"/>
              </a:rPr>
              <a:t>Exception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03761" y="3755231"/>
            <a:ext cx="1634876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ServiceDueException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10275"/>
            <a:ext cx="10972800" cy="314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524125"/>
            <a:ext cx="5372100" cy="2181225"/>
          </a:xfrm>
          <a:prstGeom prst="roundRect">
            <a:avLst>
              <a:gd name="adj" fmla="val 5240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2295525"/>
            <a:ext cx="5372100" cy="2638425"/>
          </a:xfrm>
          <a:prstGeom prst="roundRect">
            <a:avLst>
              <a:gd name="adj" fmla="val 4332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601027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829175" y="2762250"/>
            <a:ext cx="914400" cy="219075"/>
          </a:xfrm>
          <a:prstGeom prst="roundRect">
            <a:avLst>
              <a:gd name="adj" fmla="val 17391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47725" y="3962400"/>
            <a:ext cx="4895850" cy="504825"/>
          </a:xfrm>
          <a:prstGeom prst="roundRect">
            <a:avLst>
              <a:gd name="adj" fmla="val 15094"/>
            </a:avLst>
          </a:prstGeom>
          <a:solidFill>
            <a:srgbClr val="0F172A"/>
          </a:solidFill>
          <a:ln w="9525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48425" y="2886075"/>
            <a:ext cx="4895850" cy="381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48425" y="3362325"/>
            <a:ext cx="4895850" cy="381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8425" y="3838575"/>
            <a:ext cx="4895850" cy="381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48425" y="4314825"/>
            <a:ext cx="4895850" cy="381000"/>
          </a:xfrm>
          <a:prstGeom prst="roundRect">
            <a:avLst>
              <a:gd name="adj" fmla="val 15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582025" y="3467100"/>
            <a:ext cx="1916757" cy="1905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677400" y="4419600"/>
            <a:ext cx="876448" cy="190500"/>
          </a:xfrm>
          <a:prstGeom prst="roundRect">
            <a:avLst>
              <a:gd name="adj" fmla="val 2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8425" y="2571750"/>
            <a:ext cx="190500" cy="1714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275" y="570047"/>
            <a:ext cx="110680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8BDF8"/>
                </a:solidFill>
                <a:latin typeface="Segoe UI Variable Display" pitchFamily="2" charset="0"/>
              </a:rPr>
              <a:t>04. Live Execution &amp; Reports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1071563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FFFFFF"/>
                </a:solidFill>
                <a:latin typeface="Plus Jakarta Sans"/>
              </a:rPr>
              <a:t>Sample Run &amp; Fleet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" y="6153150"/>
            <a:ext cx="196453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Car Rental Fleet 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06125" y="6153150"/>
            <a:ext cx="9620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Slide 5 of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3095625"/>
            <a:ext cx="49911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Rental Range: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2026-08-05 to 2026-08-08 (3 Days)</a:t>
            </a:r>
            <a:r>
              <a:t>
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Odometer: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41,230 → 41,710 km (480 km driven)</a:t>
            </a:r>
            <a:r>
              <a:t>
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•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Fuel Usage: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3/4 → 1/2 (Fuel Diff Fee = ₹600)</a:t>
            </a:r>
            <a:r>
              <a:t>
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533650"/>
            <a:ext cx="5743575" cy="21907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Java Streams Reporting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" y="2771775"/>
            <a:ext cx="32623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Sample Console Billing Walkthrough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05375" y="2800350"/>
            <a:ext cx="857250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F172A"/>
                </a:solidFill>
                <a:latin typeface="Plus Jakarta Sans"/>
              </a:rPr>
              <a:t>KA09-SUV-3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2025" y="4076700"/>
            <a:ext cx="476250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125" b="1" i="0" u="none">
                <a:solidFill>
                  <a:srgbClr val="38BDF8"/>
                </a:solidFill>
                <a:latin typeface="Plus Jakarta Sans"/>
              </a:rPr>
              <a:t>Charge: 3d × 2,500 + 480 × 8 + 600 = ₹11,880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1775" y="2981325"/>
            <a:ext cx="4724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Utilisation Rate: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Percentage computed per vehicle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1775" y="3457575"/>
            <a:ext cx="4724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Revenue Streams: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Grouped via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1775" y="3933825"/>
            <a:ext cx="4724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Service Flags: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Filtered at 40,000+ km maintenance 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1775" y="4410075"/>
            <a:ext cx="4724400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CBD5E1"/>
                </a:solidFill>
                <a:latin typeface="Plus Jakarta Sans"/>
              </a:rPr>
              <a:t>Fleet Sorting: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Comparative ranking using custom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20125" y="3486150"/>
            <a:ext cx="231974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Collectors.groupingBy()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15500" y="4438650"/>
            <a:ext cx="108599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8BDF8"/>
                </a:solidFill>
                <a:latin typeface="monospace"/>
              </a:rPr>
              <a:t>Comparator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447800"/>
            <a:ext cx="5372100" cy="4314825"/>
          </a:xfrm>
          <a:prstGeom prst="roundRect">
            <a:avLst>
              <a:gd name="adj" fmla="val 26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10300" y="1447800"/>
            <a:ext cx="5372100" cy="4314825"/>
          </a:xfrm>
          <a:prstGeom prst="roundRect">
            <a:avLst>
              <a:gd name="adj" fmla="val 2649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1724025"/>
            <a:ext cx="190500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8425" y="172402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0680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38BDF8"/>
                </a:solidFill>
                <a:latin typeface="Segoe UI Variable Display" pitchFamily="2" charset="0"/>
              </a:rPr>
              <a:t>05. Conclusion &amp; Road Ahead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90575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FFFFFF"/>
                </a:solidFill>
                <a:latin typeface="Plus Jakarta Sans"/>
              </a:rPr>
              <a:t>Summary &amp; Stretch Goals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153150"/>
            <a:ext cx="2000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64748B"/>
                </a:solidFill>
                <a:latin typeface="Plus Jakarta Sans"/>
              </a:rPr>
              <a:t>Thank You — Q&amp;A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15650" y="6153150"/>
            <a:ext cx="952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Slide 6 of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1685925"/>
            <a:ext cx="6425803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38BDF8"/>
                </a:solidFill>
                <a:latin typeface="Plus Jakarta Sans"/>
              </a:rPr>
              <a:t>Core Deliverables Met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8425" y="1685925"/>
            <a:ext cx="5743575" cy="238125"/>
          </a:xfrm>
          <a:prstGeom prst="rect">
            <a:avLst/>
          </a:prstGeom>
          <a:noFill/>
        </p:spPr>
        <p:txBody>
          <a:bodyPr wrap="none" lIns="26670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59E0B"/>
                </a:solidFill>
                <a:latin typeface="Plus Jakarta Sans"/>
              </a:rPr>
              <a:t>Future Stretch Goals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2057400"/>
            <a:ext cx="6119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Zero double-bookings across overlapping 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2343150"/>
            <a:ext cx="6119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Accurate duration, mileage, fuel &amp; penalty charges.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2628900"/>
            <a:ext cx="6119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Automatic service-due flagging &amp; rental blocking.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725" y="2914650"/>
            <a:ext cx="6119812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Persistent state reloading matching original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2057400"/>
            <a:ext cx="57435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One-way Rentals: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Multi-branch relocation fee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8425" y="2343150"/>
            <a:ext cx="57435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Predictive Maintenance: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Mileage trend forecasting.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8425" y="2628900"/>
            <a:ext cx="57435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Damage Settlement: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Digital damage-log deposit claims.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2914650"/>
            <a:ext cx="5743575" cy="2857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125" b="0" i="0" u="none">
                <a:solidFill>
                  <a:srgbClr val="CBD5E1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CBD5E1"/>
                </a:solidFill>
                <a:latin typeface="Plus Jakarta Sans"/>
              </a:rPr>
              <a:t>REST API / Web UI:</a:t>
            </a:r>
            <a:r>
              <a:rPr sz="1125" b="0" i="0" u="none">
                <a:solidFill>
                  <a:srgbClr val="CBD5E1"/>
                </a:solidFill>
                <a:latin typeface="Plus Jakarta Sans"/>
              </a:rPr>
              <a:t> Spring Boot &amp; React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5991225"/>
            <a:ext cx="10972800" cy="3333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2952750" y="4256633"/>
            <a:ext cx="6286500" cy="523875"/>
          </a:xfrm>
          <a:prstGeom prst="roundRect">
            <a:avLst>
              <a:gd name="adj" fmla="val 21818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09600" y="5991225"/>
            <a:ext cx="109728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3100" y="1915417"/>
            <a:ext cx="685800" cy="685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2105917"/>
            <a:ext cx="3810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685734" y="533400"/>
            <a:ext cx="2107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Academic Year 2026–2027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45768" y="2829817"/>
            <a:ext cx="3700462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4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ace Grotesk"/>
                <a:ea typeface="+mn-ea"/>
                <a:cs typeface="+mn-cs"/>
              </a:rPr>
              <a:t>Thank You!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8875" y="3658492"/>
            <a:ext cx="7334250" cy="2933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231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50" b="0" i="0" u="none" strike="noStrike" kern="1200" cap="none" spc="0" normalizeH="0" baseline="0" noProof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Any questions about the Car Rental Fleet Manager system?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175" y="6153150"/>
            <a:ext cx="352425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0" i="0" u="none" strike="noStrike" kern="1200" cap="none" spc="0" normalizeH="0" baseline="0" noProof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Car Rental Fleet Manager — Java PSTP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10850" y="6153150"/>
            <a:ext cx="111442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Q&amp;A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86100" y="4418558"/>
            <a:ext cx="180975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Harish</a:t>
            </a: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(2620080071)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62500" y="4418558"/>
            <a:ext cx="333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|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0618" y="4418558"/>
            <a:ext cx="1928812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Sabeer</a:t>
            </a: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(2620030506)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4175" y="4418558"/>
            <a:ext cx="3333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>
                <a:ln>
                  <a:noFill/>
                </a:ln>
                <a:solidFill>
                  <a:srgbClr val="F8FAFC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8956" y="4418558"/>
            <a:ext cx="22621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5" b="1" i="0" u="none" strike="noStrike" kern="1200" cap="none" spc="0" normalizeH="0" baseline="0" noProof="0">
                <a:ln>
                  <a:noFill/>
                </a:ln>
                <a:solidFill>
                  <a:srgbClr val="38BDF8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KVS Karthik</a:t>
            </a:r>
            <a:r>
              <a:rPr kumimoji="0" sz="1125" b="0" i="0" u="none" strike="noStrike" kern="1200" cap="none" spc="0" normalizeH="0" baseline="0" noProof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Plus Jakarta Sans"/>
                <a:ea typeface="+mn-ea"/>
                <a:cs typeface="+mn-cs"/>
              </a:rPr>
              <a:t> (2620040159)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602</Words>
  <Application>Microsoft Office PowerPoint</Application>
  <PresentationFormat>Widescreen</PresentationFormat>
  <Paragraphs>100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Space Grotesk</vt:lpstr>
      <vt:lpstr>Plus Jakarta Sans</vt:lpstr>
      <vt:lpstr>Arial</vt:lpstr>
      <vt:lpstr>monospace</vt:lpstr>
      <vt:lpstr>Segoe UI Variable Display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sabeerkhan0309@outlook.com</cp:lastModifiedBy>
  <cp:revision>2</cp:revision>
  <dcterms:created xsi:type="dcterms:W3CDTF">2013-01-27T09:14:16Z</dcterms:created>
  <dcterms:modified xsi:type="dcterms:W3CDTF">2026-09-21T08:03:34Z</dcterms:modified>
  <cp:category/>
</cp:coreProperties>
</file>